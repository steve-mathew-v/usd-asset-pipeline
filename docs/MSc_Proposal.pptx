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09728" cy="17373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960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 spc="100">
                <a:solidFill>
                  <a:srgbClr val="2DD4BF"/>
                </a:solidFill>
                <a:latin typeface="Consolas"/>
              </a:rPr>
              <a:t>MSc Computer Animation &amp; Visual Effects  ·  NCCA, Bournemouth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A Lightweight USD-Based Asset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Pipeline for Cross-DCC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94A3B8"/>
                </a:solidFill>
                <a:latin typeface="Calibri"/>
              </a:rPr>
              <a:t>Reliable, versioned asset exchange for small studios and student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206240"/>
            <a:ext cx="9875520" cy="18288"/>
          </a:xfrm>
          <a:prstGeom prst="rect">
            <a:avLst/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434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Project Proposal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[Your name]  ·  Supervisor: [TBC]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Georgia"/>
              </a:rPr>
              <a:t>Small teams have no real asset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419856" cy="3383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286000"/>
            <a:ext cx="457200" cy="45720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Georgia"/>
              </a:rPr>
              <a:t>Big studios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4748B"/>
                </a:solidFill>
                <a:latin typeface="Calibri"/>
              </a:rPr>
              <a:t>Heavyweight systems — ShotGrid/Flow, Perforce, proprietary asset managers. Powerful, but costly and assume dedicated pipeline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419856" cy="3383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0600" y="2286000"/>
            <a:ext cx="457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926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Georgia"/>
              </a:rPr>
              <a:t>Small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42900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4748B"/>
                </a:solidFill>
                <a:latin typeface="Calibri"/>
              </a:rPr>
              <a:t>Fall back to manual file-sharing: cloud drives, naming conventions, messaging. No versioning, no “approved” state, no cross-app consistency.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419856" cy="3383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286000"/>
            <a:ext cx="4572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Georgia"/>
              </a:rPr>
              <a:t>The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2900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4748B"/>
                </a:solidFill>
                <a:latin typeface="Calibri"/>
              </a:rPr>
              <a:t>Wrong versions used, missing textures, overwritten work, time lost chasing the latest file. Errors that a pipeline is meant to prevent.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59E0B"/>
                </a:solidFill>
                <a:latin typeface="Consolas"/>
              </a:rPr>
              <a:t>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I built a prototype — and it showed me the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029200" cy="3657600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2DD4BF"/>
                </a:solidFill>
                <a:latin typeface="Consolas"/>
              </a:rPr>
              <a:t>WHAT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389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—  </a:t>
            </a:r>
            <a:r>
              <a:rPr sz="1500">
                <a:solidFill>
                  <a:srgbClr val="E2E8F0"/>
                </a:solidFill>
                <a:latin typeface="Calibri"/>
              </a:rPr>
              <a:t>FastAPI + MongoDB server, DCC-agnostic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—  </a:t>
            </a:r>
            <a:r>
              <a:rPr sz="1500">
                <a:solidFill>
                  <a:srgbClr val="E2E8F0"/>
                </a:solidFill>
                <a:latin typeface="Calibri"/>
              </a:rPr>
              <a:t>Maya client: upload, approve, import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—  </a:t>
            </a:r>
            <a:r>
              <a:rPr sz="1500">
                <a:solidFill>
                  <a:srgbClr val="E2E8F0"/>
                </a:solidFill>
                <a:latin typeface="Calibri"/>
              </a:rPr>
              <a:t>“Ready” state gates what others pull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—  </a:t>
            </a:r>
            <a:r>
              <a:rPr sz="1500">
                <a:solidFill>
                  <a:srgbClr val="E2E8F0"/>
                </a:solidFill>
                <a:latin typeface="Calibri"/>
              </a:rPr>
              <a:t>Auto front/top thumbnails on publish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—  </a:t>
            </a:r>
            <a:r>
              <a:rPr sz="1500">
                <a:solidFill>
                  <a:srgbClr val="E2E8F0"/>
                </a:solidFill>
                <a:latin typeface="Calibri"/>
              </a:rPr>
              <a:t>PySide6 GUI + automated test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65960"/>
            <a:ext cx="52120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59E0B"/>
                </a:solidFill>
                <a:latin typeface="Consolas"/>
              </a:rPr>
              <a:t>WHAT IT REVEALED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.obj is a dead end — </a:t>
            </a:r>
            <a:r>
              <a:rPr sz="1500">
                <a:solidFill>
                  <a:srgbClr val="0F172A"/>
                </a:solidFill>
                <a:latin typeface="Calibri"/>
              </a:rPr>
              <a:t>no materials, hierarchy, or variants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No versioning — </a:t>
            </a:r>
            <a:r>
              <a:rPr sz="1500">
                <a:solidFill>
                  <a:srgbClr val="0F172A"/>
                </a:solidFill>
                <a:latin typeface="Calibri"/>
              </a:rPr>
              <a:t>re-upload overwrites history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Weak auth — </a:t>
            </a:r>
            <a:r>
              <a:rPr sz="1500">
                <a:solidFill>
                  <a:srgbClr val="0F172A"/>
                </a:solidFill>
                <a:latin typeface="Calibri"/>
              </a:rPr>
              <a:t>a root password check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One hard-coded DCC — </a:t>
            </a:r>
            <a:r>
              <a:rPr sz="1500">
                <a:solidFill>
                  <a:srgbClr val="0F172A"/>
                </a:solidFill>
                <a:latin typeface="Calibri"/>
              </a:rPr>
              <a:t>doesn’t generalise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F59E0B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Localhost only — </a:t>
            </a:r>
            <a:r>
              <a:rPr sz="1500">
                <a:solidFill>
                  <a:srgbClr val="0F172A"/>
                </a:solidFill>
                <a:latin typeface="Calibri"/>
              </a:rPr>
              <a:t>no real deployment 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9728" cy="31089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2DD4BF"/>
                </a:solidFill>
                <a:latin typeface="Consolas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10058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Can a lightweight, USD-based asset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system provide </a:t>
            </a:r>
            <a:r>
              <a:rPr sz="3000" b="1" i="0">
                <a:solidFill>
                  <a:srgbClr val="2DD4BF"/>
                </a:solidFill>
                <a:latin typeface="Georgia"/>
              </a:rPr>
              <a:t>reliable, versioned,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DD4BF"/>
                </a:solidFill>
                <a:latin typeface="Georgia"/>
              </a:rPr>
              <a:t>cross-DCC</a:t>
            </a:r>
            <a:r>
              <a:rPr sz="3000" b="1" i="0">
                <a:solidFill>
                  <a:srgbClr val="FFFFFF"/>
                </a:solidFill>
                <a:latin typeface="Georgia"/>
              </a:rPr>
              <a:t> asset exchange for small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studios — and does it </a:t>
            </a:r>
            <a:r>
              <a:rPr sz="3000" b="1" i="0">
                <a:solidFill>
                  <a:srgbClr val="2DD4BF"/>
                </a:solidFill>
                <a:latin typeface="Georgia"/>
              </a:rPr>
              <a:t>measurably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DD4BF"/>
                </a:solidFill>
                <a:latin typeface="Georgia"/>
              </a:rPr>
              <a:t>improve</a:t>
            </a:r>
            <a:r>
              <a:rPr sz="3000" b="1" i="0">
                <a:solidFill>
                  <a:srgbClr val="FFFFFF"/>
                </a:solidFill>
                <a:latin typeface="Georgia"/>
              </a:rPr>
              <a:t> on manual file-sharing?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94A3B8"/>
                </a:solidFill>
                <a:latin typeface="Calibri"/>
              </a:rPr>
              <a:t>Measured on usability and error reduction, with real artists.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WHY USD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Georgia"/>
              </a:rPr>
              <a:t>The technical spine, not a buzzword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00400" cy="3566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64748B"/>
                </a:solidFill>
                <a:latin typeface="Consolas"/>
              </a:rPr>
              <a:t>.obj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4A3B8"/>
                </a:solidFill>
                <a:latin typeface="Calibri"/>
              </a:rPr>
              <a:t>the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27432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Geometry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No materials / textures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No hierarchy or variants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Overwrite = lost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7040880" cy="3566160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DD4BF"/>
                </a:solidFill>
                <a:latin typeface="Consolas"/>
              </a:rPr>
              <a:t>OpenUSD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94A3B8"/>
                </a:solidFill>
                <a:latin typeface="Calibri"/>
              </a:rPr>
              <a:t>industry interchange standard — native in Maya, Houdini, Unreal, Blender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—  </a:t>
            </a:r>
            <a:r>
              <a:rPr sz="1400" b="1">
                <a:solidFill>
                  <a:srgbClr val="E2E8F0"/>
                </a:solidFill>
                <a:latin typeface="Calibri"/>
              </a:rPr>
              <a:t>Composition = versioning  </a:t>
            </a:r>
            <a:r>
              <a:rPr sz="1400">
                <a:solidFill>
                  <a:srgbClr val="E2E8F0"/>
                </a:solidFill>
                <a:latin typeface="Calibri"/>
              </a:rPr>
              <a:t>each publish is a new layer; a stable stub references the approved 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—  </a:t>
            </a:r>
            <a:r>
              <a:rPr sz="1400" b="1">
                <a:solidFill>
                  <a:srgbClr val="E2E8F0"/>
                </a:solidFill>
                <a:latin typeface="Calibri"/>
              </a:rPr>
              <a:t>Asset resolution  </a:t>
            </a:r>
            <a:r>
              <a:rPr sz="1400">
                <a:solidFill>
                  <a:srgbClr val="E2E8F0"/>
                </a:solidFill>
                <a:latin typeface="Calibri"/>
              </a:rPr>
              <a:t>a logical URI resolves to the right version (Ar 2.0, stretch goal)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—  </a:t>
            </a:r>
            <a:r>
              <a:rPr sz="1400" b="1">
                <a:solidFill>
                  <a:srgbClr val="E2E8F0"/>
                </a:solidFill>
                <a:latin typeface="Calibri"/>
              </a:rPr>
              <a:t>Rich data  </a:t>
            </a:r>
            <a:r>
              <a:rPr sz="1400">
                <a:solidFill>
                  <a:srgbClr val="E2E8F0"/>
                </a:solidFill>
                <a:latin typeface="Calibri"/>
              </a:rPr>
              <a:t>hierarchy, materials (MaterialX), metadata travel with the asset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—  </a:t>
            </a:r>
            <a:r>
              <a:rPr sz="1400" b="1">
                <a:solidFill>
                  <a:srgbClr val="E2E8F0"/>
                </a:solidFill>
                <a:latin typeface="Calibri"/>
              </a:rPr>
              <a:t>Native per-DCC bridges  </a:t>
            </a:r>
            <a:r>
              <a:rPr sz="1400">
                <a:solidFill>
                  <a:srgbClr val="E2E8F0"/>
                </a:solidFill>
                <a:latin typeface="Calibri"/>
              </a:rPr>
              <a:t>export/import via each tool’s own USD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AIMS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Georgia"/>
              </a:rPr>
              <a:t>What the project sets out to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19856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2219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Review existing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6243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Large-studio tools, open-source (Kitsu, Prism) and USD pipelines — articulate the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65960"/>
            <a:ext cx="3419856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2219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Build a versioned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6243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Authenticated, versioned USD storage with an “approved”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419856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9456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221991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Two DCC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624328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USD publish / consume in Maya and Houdini.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39"/>
            <a:ext cx="3419856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00507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Real versioning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07407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Consume “latest approved” or a pinned version.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749039"/>
            <a:ext cx="3419856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Georg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00507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Evaluate with artists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407407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Task-based study, SUS questionnaire, comparison vs manual workflow.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49039"/>
            <a:ext cx="3419856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97763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4B8A6"/>
                </a:solidFill>
                <a:latin typeface="Georgi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00507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Deploy properly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407407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Docker, CI, and a documented setup beyond localhost.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72A"/>
                </a:solidFill>
                <a:latin typeface="Georgia"/>
              </a:rPr>
              <a:t>Design-and-build, with an empirical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9260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328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DCC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Maya + Houdini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USD publish / consume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148840"/>
            <a:ext cx="2926080" cy="1691640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328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FastAPI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0175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auth · versioning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approved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148840"/>
            <a:ext cx="29260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53288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USD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versioned layers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+ asset stubs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40480" y="2807208"/>
            <a:ext cx="640080" cy="36576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635240" y="2807208"/>
            <a:ext cx="640080" cy="36576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10515600" cy="1645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 b="1">
                <a:solidFill>
                  <a:srgbClr val="0F172A"/>
                </a:solidFill>
                <a:latin typeface="Calibri"/>
              </a:rPr>
              <a:t>Usability study  </a:t>
            </a:r>
            <a:r>
              <a:rPr sz="1400">
                <a:solidFill>
                  <a:srgbClr val="0F172A"/>
                </a:solidFill>
                <a:latin typeface="Calibri"/>
              </a:rPr>
              <a:t>6–10 artists, fixed publish/consume tasks; time + success rate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 b="1">
                <a:solidFill>
                  <a:srgbClr val="0F172A"/>
                </a:solidFill>
                <a:latin typeface="Calibri"/>
              </a:rPr>
              <a:t>SUS questionnaire  </a:t>
            </a:r>
            <a:r>
              <a:rPr sz="1400">
                <a:solidFill>
                  <a:srgbClr val="0F172A"/>
                </a:solidFill>
                <a:latin typeface="Calibri"/>
              </a:rPr>
              <a:t>standard, citable usability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0060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 b="1">
                <a:solidFill>
                  <a:srgbClr val="0F172A"/>
                </a:solidFill>
                <a:latin typeface="Calibri"/>
              </a:rPr>
              <a:t>Comparative analysis  </a:t>
            </a:r>
            <a:r>
              <a:rPr sz="1400">
                <a:solidFill>
                  <a:srgbClr val="0F172A"/>
                </a:solidFill>
                <a:latin typeface="Calibri"/>
              </a:rPr>
              <a:t>tool vs manual file-sharing: errors + time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 b="1">
                <a:solidFill>
                  <a:srgbClr val="0F172A"/>
                </a:solidFill>
                <a:latin typeface="Calibri"/>
              </a:rPr>
              <a:t>Technical eval  </a:t>
            </a:r>
            <a:r>
              <a:rPr sz="1400">
                <a:solidFill>
                  <a:srgbClr val="0F172A"/>
                </a:solidFill>
                <a:latin typeface="Calibri"/>
              </a:rPr>
              <a:t>performance as asset count and size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Georgia"/>
              </a:rPr>
              <a:t>~14 weeks, scoped to one summer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737360" cy="603504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Wk 1–2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011680"/>
            <a:ext cx="859536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2011680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Review &amp; scope   </a:t>
            </a:r>
            <a:r>
              <a:rPr sz="1350" b="0" i="0">
                <a:solidFill>
                  <a:srgbClr val="64748B"/>
                </a:solidFill>
                <a:latin typeface="Calibri"/>
              </a:rPr>
              <a:t>Literature + tools review; lock the question with supervisor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70632"/>
            <a:ext cx="1737360" cy="603504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70632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Wk 3–4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770632"/>
            <a:ext cx="859536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770632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Server core   </a:t>
            </a:r>
            <a:r>
              <a:rPr sz="1350" b="0" i="0">
                <a:solidFill>
                  <a:srgbClr val="64748B"/>
                </a:solidFill>
                <a:latin typeface="Calibri"/>
              </a:rPr>
              <a:t>Auth, versioned USD storage, approved state, tests + 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9584"/>
            <a:ext cx="1737360" cy="603504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Wk 5–7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529584"/>
            <a:ext cx="859536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529584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Maya client   </a:t>
            </a:r>
            <a:r>
              <a:rPr sz="1350" b="0" i="0">
                <a:solidFill>
                  <a:srgbClr val="64748B"/>
                </a:solidFill>
                <a:latin typeface="Calibri"/>
              </a:rPr>
              <a:t>USD publish / consume, version 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88536"/>
            <a:ext cx="1737360" cy="603504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6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Wk 8–9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288536"/>
            <a:ext cx="859536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4288536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Houdini client   </a:t>
            </a:r>
            <a:r>
              <a:rPr sz="1350" b="0" i="0">
                <a:solidFill>
                  <a:srgbClr val="64748B"/>
                </a:solidFill>
                <a:latin typeface="Calibri"/>
              </a:rPr>
              <a:t>USD publish / consume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47488"/>
            <a:ext cx="1737360" cy="603504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47488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Wk 10–11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047488"/>
            <a:ext cx="859536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5047488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Versioning + deploy   </a:t>
            </a:r>
            <a:r>
              <a:rPr sz="1350" b="0" i="0">
                <a:solidFill>
                  <a:srgbClr val="64748B"/>
                </a:solidFill>
                <a:latin typeface="Calibri"/>
              </a:rPr>
              <a:t>Resolution layer; Docker; pilot the study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06440"/>
            <a:ext cx="1737360" cy="603504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DD4BF"/>
                </a:solidFill>
                <a:latin typeface="Consolas"/>
              </a:rPr>
              <a:t>Wk 12–14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806440"/>
            <a:ext cx="8595360" cy="603504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5806440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Calibri"/>
              </a:rPr>
              <a:t>Study &amp; write-up   </a:t>
            </a:r>
            <a:r>
              <a:rPr sz="1350" b="0" i="0">
                <a:solidFill>
                  <a:srgbClr val="64748B"/>
                </a:solidFill>
                <a:latin typeface="Calibri"/>
              </a:rPr>
              <a:t>Run user study, analyse, finalise thesis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SCOPE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Georgia"/>
              </a:rPr>
              <a:t>Deliberately bounded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3566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14B8A6"/>
                </a:solidFill>
                <a:latin typeface="Consolas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USD interchange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Versioning + approved state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Maya + Houdini clients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Auth + Docker deploy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Automated tests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—  </a:t>
            </a:r>
            <a:r>
              <a:rPr sz="1400">
                <a:solidFill>
                  <a:srgbClr val="0F172A"/>
                </a:solidFill>
                <a:latin typeface="Calibri"/>
              </a:rPr>
              <a:t>User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291840" cy="3566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64748B"/>
                </a:solidFill>
                <a:latin typeface="Consolas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Substance / texture round-trip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Full custom Ar 2.0 resolver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Shot / sequence mgmt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Real-time multi-user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—  </a:t>
            </a:r>
            <a:r>
              <a:rPr sz="1400">
                <a:solidFill>
                  <a:srgbClr val="64748B"/>
                </a:solidFill>
                <a:latin typeface="Calibri"/>
              </a:rPr>
              <a:t>Cloud-scale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920240"/>
            <a:ext cx="3474720" cy="3566160"/>
          </a:xfrm>
          <a:prstGeom prst="roundRect">
            <a:avLst/>
          </a:prstGeom>
          <a:solidFill>
            <a:srgbClr val="0E1628"/>
          </a:solidFill>
          <a:ln>
            <a:noFill/>
          </a:ln>
          <a:effectLst/>
          <a:effectLst>
            <a:outerShdw blurRad="90000" dist="40000" dir="5400000" rotWithShape="0">
              <a:srgbClr val="0F172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240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59E0B"/>
                </a:solidFill>
                <a:latin typeface="Consolas"/>
              </a:rPr>
              <a:t>KEY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697480"/>
            <a:ext cx="2880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—  </a:t>
            </a:r>
            <a:r>
              <a:rPr sz="1350" b="1">
                <a:solidFill>
                  <a:srgbClr val="E2E8F0"/>
                </a:solidFill>
                <a:latin typeface="Calibri"/>
              </a:rPr>
              <a:t>USD learning curve  </a:t>
            </a:r>
            <a:r>
              <a:rPr sz="1350">
                <a:solidFill>
                  <a:srgbClr val="E2E8F0"/>
                </a:solidFill>
                <a:latin typeface="Calibri"/>
              </a:rPr>
              <a:t>use prebuilt usd-core; week-1 spike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—  </a:t>
            </a:r>
            <a:r>
              <a:rPr sz="1350" b="1">
                <a:solidFill>
                  <a:srgbClr val="E2E8F0"/>
                </a:solidFill>
                <a:latin typeface="Calibri"/>
              </a:rPr>
              <a:t>Resolver too big  </a:t>
            </a:r>
            <a:r>
              <a:rPr sz="1350">
                <a:solidFill>
                  <a:srgbClr val="E2E8F0"/>
                </a:solidFill>
                <a:latin typeface="Calibri"/>
              </a:rPr>
              <a:t>fall back to server-side resolution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—  </a:t>
            </a:r>
            <a:r>
              <a:rPr sz="1350" b="1">
                <a:solidFill>
                  <a:srgbClr val="E2E8F0"/>
                </a:solidFill>
                <a:latin typeface="Calibri"/>
              </a:rPr>
              <a:t>Recruiting artists  </a:t>
            </a:r>
            <a:r>
              <a:rPr sz="1350">
                <a:solidFill>
                  <a:srgbClr val="E2E8F0"/>
                </a:solidFill>
                <a:latin typeface="Calibri"/>
              </a:rPr>
              <a:t>use NCCA cohort; short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2DD4BF"/>
                </a:solidFill>
                <a:latin typeface="Consolas"/>
              </a:rPr>
              <a:t>EXPECTED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What this adds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419856" cy="2468880"/>
          </a:xfrm>
          <a:prstGeom prst="roundRect">
            <a:avLst/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651760"/>
            <a:ext cx="45720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A working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An open-source, self-hostable USD asset pipeline built for small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419856" cy="2468880"/>
          </a:xfrm>
          <a:prstGeom prst="roundRect">
            <a:avLst/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651760"/>
            <a:ext cx="45720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971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A design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52044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What a minimal USD pipeline actually requires, grounded in a review of existing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419856" cy="2468880"/>
          </a:xfrm>
          <a:prstGeom prst="roundRect">
            <a:avLst/>
          </a:prstGeom>
          <a:solidFill>
            <a:srgbClr val="1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651760"/>
            <a:ext cx="457200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9718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Empirical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2044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Whether it improves usability and reduces errors vs manual workflows.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Thank you</a:t>
            </a:r>
            <a:r>
              <a:rPr sz="1600" b="0" i="1">
                <a:solidFill>
                  <a:srgbClr val="94A3B8"/>
                </a:solidFill>
                <a:latin typeface="Calibri"/>
              </a:rPr>
              <a:t>   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