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960120"/>
            <a:ext cx="109728" cy="173736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" y="100584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 i="0" spc="100">
                <a:solidFill>
                  <a:srgbClr val="2DD4BF"/>
                </a:solidFill>
                <a:latin typeface="Consolas"/>
              </a:rPr>
              <a:t>MSc Computer Animation &amp; Visual Effects  ·  NCCA, Bournemouth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1463040"/>
            <a:ext cx="1042416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800" b="1" i="0">
                <a:solidFill>
                  <a:srgbClr val="FFFFFF"/>
                </a:solidFill>
                <a:latin typeface="Georgia"/>
              </a:rPr>
              <a:t>A Lightweight USD-Based Asset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800" b="1" i="0">
                <a:solidFill>
                  <a:srgbClr val="FFFFFF"/>
                </a:solidFill>
                <a:latin typeface="Georgia"/>
              </a:rPr>
              <a:t>Pipeline for Cross-DCC Collaboration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15468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0" i="1">
                <a:solidFill>
                  <a:srgbClr val="94A3B8"/>
                </a:solidFill>
                <a:latin typeface="Calibri"/>
              </a:rPr>
              <a:t>Reliable, versioned asset exchange for small studios and student teams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4160520"/>
            <a:ext cx="9875520" cy="18288"/>
          </a:xfrm>
          <a:prstGeom prst="rect">
            <a:avLst/>
          </a:prstGeom>
          <a:solidFill>
            <a:srgbClr val="1A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4389120"/>
            <a:ext cx="10058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Project Proposal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 i="0">
                <a:solidFill>
                  <a:srgbClr val="94A3B8"/>
                </a:solidFill>
                <a:latin typeface="Calibri"/>
              </a:rPr>
              <a:t>Steve Mathew Varghese  ·  Supervisor: [TBC]  ·  [Date]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 spc="200">
                <a:solidFill>
                  <a:srgbClr val="14B8A6"/>
                </a:solidFill>
                <a:latin typeface="Consolas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6012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100" b="1" i="0">
                <a:solidFill>
                  <a:srgbClr val="0F172A"/>
                </a:solidFill>
                <a:latin typeface="Georgia"/>
              </a:rPr>
              <a:t>Small teams have no real asset pipeline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920240"/>
            <a:ext cx="3419856" cy="329184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  <a:effectLst>
            <a:outerShdw blurRad="90000" dist="40000" dir="5400000" rotWithShape="0">
              <a:srgbClr val="0F172A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88720" y="2286000"/>
            <a:ext cx="457200" cy="457200"/>
          </a:xfrm>
          <a:prstGeom prst="round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88720" y="2926080"/>
            <a:ext cx="2743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900" b="1" i="0">
                <a:solidFill>
                  <a:srgbClr val="0F172A"/>
                </a:solidFill>
                <a:latin typeface="Georgia"/>
              </a:rPr>
              <a:t>Big studios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3429000"/>
            <a:ext cx="269748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50" b="0" i="0">
                <a:solidFill>
                  <a:srgbClr val="64748B"/>
                </a:solidFill>
                <a:latin typeface="Calibri"/>
              </a:rPr>
              <a:t>Heavyweight systems (ShotGrid, Perforce, proprietary tools). Powerful, but costly and assume dedicated pipeline staff.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34840" y="1920240"/>
            <a:ext cx="3419856" cy="329184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  <a:effectLst>
            <a:outerShdw blurRad="90000" dist="40000" dir="5400000" rotWithShape="0">
              <a:srgbClr val="0F172A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800600" y="2286000"/>
            <a:ext cx="457200" cy="457200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800600" y="2926080"/>
            <a:ext cx="2743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900" b="1" i="0">
                <a:solidFill>
                  <a:srgbClr val="0F172A"/>
                </a:solidFill>
                <a:latin typeface="Georgia"/>
              </a:rPr>
              <a:t>Small teams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00600" y="3429000"/>
            <a:ext cx="269748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50" b="0" i="0">
                <a:solidFill>
                  <a:srgbClr val="64748B"/>
                </a:solidFill>
                <a:latin typeface="Calibri"/>
              </a:rPr>
              <a:t>Fall back to manual file-sharing: cloud drives, naming conventions, messaging. No versioning, no “approved” state.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20" y="1920240"/>
            <a:ext cx="3419856" cy="329184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  <a:effectLst>
            <a:outerShdw blurRad="90000" dist="40000" dir="5400000" rotWithShape="0">
              <a:srgbClr val="0F172A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412480" y="2286000"/>
            <a:ext cx="457200" cy="457200"/>
          </a:xfrm>
          <a:prstGeom prst="round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12480" y="2926080"/>
            <a:ext cx="2743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900" b="1" i="0">
                <a:solidFill>
                  <a:srgbClr val="0F172A"/>
                </a:solidFill>
                <a:latin typeface="Georgia"/>
              </a:rPr>
              <a:t>The cost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0" y="3429000"/>
            <a:ext cx="269748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50" b="0" i="0">
                <a:solidFill>
                  <a:srgbClr val="64748B"/>
                </a:solidFill>
                <a:latin typeface="Calibri"/>
              </a:rPr>
              <a:t>Wrong versions used, missing textures, overwritten work, time lost chasing the latest file — the errors a pipeline prevents.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4864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 spc="200">
                <a:solidFill>
                  <a:srgbClr val="F59E0B"/>
                </a:solidFill>
                <a:latin typeface="Consolas"/>
              </a:rPr>
              <a:t>STARTING POINT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100" b="1" i="0">
                <a:solidFill>
                  <a:srgbClr val="0F172A"/>
                </a:solidFill>
                <a:latin typeface="Georgia"/>
              </a:rPr>
              <a:t>I built a working prototype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2115851"/>
            <a:ext cx="3364992" cy="25348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ffectLst>
            <a:outerShdw blurRad="90000" dist="40000" dir="5400000" rotWithShape="0">
              <a:srgbClr val="0F172A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2161571"/>
            <a:ext cx="3273552" cy="244341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5074920"/>
            <a:ext cx="327355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64748B"/>
                </a:solidFill>
                <a:latin typeface="Calibri"/>
              </a:rPr>
              <a:t>Login &amp; accounts</a:t>
            </a:r>
          </a:p>
        </p:txBody>
      </p:sp>
      <p:sp>
        <p:nvSpPr>
          <p:cNvPr id="8" name="Rectangle 7"/>
          <p:cNvSpPr/>
          <p:nvPr/>
        </p:nvSpPr>
        <p:spPr>
          <a:xfrm>
            <a:off x="4550109" y="1737360"/>
            <a:ext cx="3097876" cy="32918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ffectLst>
            <a:outerShdw blurRad="90000" dist="40000" dir="5400000" rotWithShape="0">
              <a:srgbClr val="0F172A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use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95829" y="1783080"/>
            <a:ext cx="3006436" cy="32004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462272" y="5074920"/>
            <a:ext cx="327355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64748B"/>
                </a:solidFill>
                <a:latin typeface="Calibri"/>
              </a:rPr>
              <a:t>Multi-user management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194982" y="1737360"/>
            <a:ext cx="3086755" cy="32918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ffectLst>
            <a:outerShdw blurRad="90000" dist="40000" dir="5400000" rotWithShape="0">
              <a:srgbClr val="0F172A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serv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40702" y="1783080"/>
            <a:ext cx="2995315" cy="32004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101583" y="5074920"/>
            <a:ext cx="327355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64748B"/>
                </a:solidFill>
                <a:latin typeface="Calibri"/>
              </a:rPr>
              <a:t>Server control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5623560"/>
            <a:ext cx="10543032" cy="822960"/>
          </a:xfrm>
          <a:prstGeom prst="roundRect">
            <a:avLst/>
          </a:prstGeom>
          <a:solidFill>
            <a:srgbClr val="0E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43000" y="5623560"/>
            <a:ext cx="996696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50" b="0" i="0">
                <a:solidFill>
                  <a:srgbClr val="E2E8F0"/>
                </a:solidFill>
                <a:latin typeface="Calibri"/>
              </a:rPr>
              <a:t>FastAPI + MongoDB server, PySide6 GUI, Maya shelf tools — it works, but </a:t>
            </a:r>
            <a:r>
              <a:rPr sz="1450" b="1" i="0">
                <a:solidFill>
                  <a:srgbClr val="2DD4BF"/>
                </a:solidFill>
                <a:latin typeface="Calibri"/>
              </a:rPr>
              <a:t>.obj and the lack of versioning are exactly its limits.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9436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 spc="200">
                <a:solidFill>
                  <a:srgbClr val="2DD4BF"/>
                </a:solidFill>
                <a:latin typeface="Consolas"/>
              </a:rPr>
              <a:t>THE IDEA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60120"/>
            <a:ext cx="105156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2600" b="1" i="0">
                <a:solidFill>
                  <a:srgbClr val="FFFFFF"/>
                </a:solidFill>
                <a:latin typeface="Georgia"/>
              </a:rPr>
              <a:t>Can a USD-based system give small teams </a:t>
            </a:r>
            <a:r>
              <a:rPr sz="2600" b="1" i="0">
                <a:solidFill>
                  <a:srgbClr val="2DD4BF"/>
                </a:solidFill>
                <a:latin typeface="Georgia"/>
              </a:rPr>
              <a:t>reliable,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2600" b="1" i="0">
                <a:solidFill>
                  <a:srgbClr val="2DD4BF"/>
                </a:solidFill>
                <a:latin typeface="Georgia"/>
              </a:rPr>
              <a:t>versioned, cross-DCC</a:t>
            </a:r>
            <a:r>
              <a:rPr sz="2600" b="1" i="0">
                <a:solidFill>
                  <a:srgbClr val="FFFFFF"/>
                </a:solidFill>
                <a:latin typeface="Georgia"/>
              </a:rPr>
              <a:t> asset exchange — and beat manual sharing?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514600"/>
            <a:ext cx="5120640" cy="3566160"/>
          </a:xfrm>
          <a:prstGeom prst="roundRect">
            <a:avLst/>
          </a:prstGeom>
          <a:solidFill>
            <a:srgbClr val="1A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8720" y="283464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94A3B8"/>
                </a:solidFill>
                <a:latin typeface="Consolas"/>
              </a:rPr>
              <a:t>.obj  —  the prototype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3383280"/>
            <a:ext cx="4480560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1100"/>
              </a:spcAft>
            </a:pPr>
            <a:r>
              <a:rPr sz="1500" b="1">
                <a:solidFill>
                  <a:srgbClr val="94A3B8"/>
                </a:solidFill>
                <a:latin typeface="Calibri"/>
              </a:rPr>
              <a:t>—  </a:t>
            </a:r>
            <a:r>
              <a:rPr sz="1500">
                <a:solidFill>
                  <a:srgbClr val="E2E8F0"/>
                </a:solidFill>
                <a:latin typeface="Calibri"/>
              </a:rPr>
              <a:t>Geometry only</a:t>
            </a:r>
          </a:p>
          <a:p>
            <a:pPr>
              <a:spcBef>
                <a:spcPts val="0"/>
              </a:spcBef>
              <a:spcAft>
                <a:spcPts val="1100"/>
              </a:spcAft>
            </a:pPr>
            <a:r>
              <a:rPr sz="1500" b="1">
                <a:solidFill>
                  <a:srgbClr val="94A3B8"/>
                </a:solidFill>
                <a:latin typeface="Calibri"/>
              </a:rPr>
              <a:t>—  </a:t>
            </a:r>
            <a:r>
              <a:rPr sz="1500">
                <a:solidFill>
                  <a:srgbClr val="E2E8F0"/>
                </a:solidFill>
                <a:latin typeface="Calibri"/>
              </a:rPr>
              <a:t>No materials or textures</a:t>
            </a:r>
          </a:p>
          <a:p>
            <a:pPr>
              <a:spcBef>
                <a:spcPts val="0"/>
              </a:spcBef>
              <a:spcAft>
                <a:spcPts val="1100"/>
              </a:spcAft>
            </a:pPr>
            <a:r>
              <a:rPr sz="1500" b="1">
                <a:solidFill>
                  <a:srgbClr val="94A3B8"/>
                </a:solidFill>
                <a:latin typeface="Calibri"/>
              </a:rPr>
              <a:t>—  </a:t>
            </a:r>
            <a:r>
              <a:rPr sz="1500">
                <a:solidFill>
                  <a:srgbClr val="E2E8F0"/>
                </a:solidFill>
                <a:latin typeface="Calibri"/>
              </a:rPr>
              <a:t>No hierarchy or variants</a:t>
            </a:r>
          </a:p>
          <a:p>
            <a:pPr>
              <a:spcBef>
                <a:spcPts val="0"/>
              </a:spcBef>
              <a:spcAft>
                <a:spcPts val="1100"/>
              </a:spcAft>
            </a:pPr>
            <a:r>
              <a:rPr sz="1500" b="1">
                <a:solidFill>
                  <a:srgbClr val="94A3B8"/>
                </a:solidFill>
                <a:latin typeface="Calibri"/>
              </a:rPr>
              <a:t>—  </a:t>
            </a:r>
            <a:r>
              <a:rPr sz="1500">
                <a:solidFill>
                  <a:srgbClr val="E2E8F0"/>
                </a:solidFill>
                <a:latin typeface="Calibri"/>
              </a:rPr>
              <a:t>Re-upload overwrites history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2514600"/>
            <a:ext cx="5120640" cy="3566160"/>
          </a:xfrm>
          <a:prstGeom prst="roundRect">
            <a:avLst/>
          </a:prstGeom>
          <a:solidFill>
            <a:srgbClr val="1A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29400" y="283464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2DD4BF"/>
                </a:solidFill>
                <a:latin typeface="Consolas"/>
              </a:rPr>
              <a:t>OpenUSD  —  the proposal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29400" y="3383280"/>
            <a:ext cx="4572000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1100"/>
              </a:spcAft>
            </a:pPr>
            <a:r>
              <a:rPr sz="1500" b="1">
                <a:solidFill>
                  <a:srgbClr val="2DD4BF"/>
                </a:solidFill>
                <a:latin typeface="Calibri"/>
              </a:rPr>
              <a:t>—  </a:t>
            </a:r>
            <a:r>
              <a:rPr sz="1500" b="1">
                <a:solidFill>
                  <a:srgbClr val="E2E8F0"/>
                </a:solidFill>
                <a:latin typeface="Calibri"/>
              </a:rPr>
              <a:t>Versioning </a:t>
            </a:r>
            <a:r>
              <a:rPr sz="1500">
                <a:solidFill>
                  <a:srgbClr val="E2E8F0"/>
                </a:solidFill>
                <a:latin typeface="Calibri"/>
              </a:rPr>
              <a:t>via USD composition / layers</a:t>
            </a:r>
          </a:p>
          <a:p>
            <a:pPr>
              <a:spcBef>
                <a:spcPts val="0"/>
              </a:spcBef>
              <a:spcAft>
                <a:spcPts val="1100"/>
              </a:spcAft>
            </a:pPr>
            <a:r>
              <a:rPr sz="1500" b="1">
                <a:solidFill>
                  <a:srgbClr val="2DD4BF"/>
                </a:solidFill>
                <a:latin typeface="Calibri"/>
              </a:rPr>
              <a:t>—  </a:t>
            </a:r>
            <a:r>
              <a:rPr sz="1500" b="1">
                <a:solidFill>
                  <a:srgbClr val="E2E8F0"/>
                </a:solidFill>
                <a:latin typeface="Calibri"/>
              </a:rPr>
              <a:t>Cross-DCC </a:t>
            </a:r>
            <a:r>
              <a:rPr sz="1500">
                <a:solidFill>
                  <a:srgbClr val="E2E8F0"/>
                </a:solidFill>
                <a:latin typeface="Calibri"/>
              </a:rPr>
              <a:t>native in Maya, Houdini, Unreal</a:t>
            </a:r>
          </a:p>
          <a:p>
            <a:pPr>
              <a:spcBef>
                <a:spcPts val="0"/>
              </a:spcBef>
              <a:spcAft>
                <a:spcPts val="1100"/>
              </a:spcAft>
            </a:pPr>
            <a:r>
              <a:rPr sz="1500" b="1">
                <a:solidFill>
                  <a:srgbClr val="2DD4BF"/>
                </a:solidFill>
                <a:latin typeface="Calibri"/>
              </a:rPr>
              <a:t>—  </a:t>
            </a:r>
            <a:r>
              <a:rPr sz="1500" b="1">
                <a:solidFill>
                  <a:srgbClr val="E2E8F0"/>
                </a:solidFill>
                <a:latin typeface="Calibri"/>
              </a:rPr>
              <a:t>Rich data </a:t>
            </a:r>
            <a:r>
              <a:rPr sz="1500">
                <a:solidFill>
                  <a:srgbClr val="E2E8F0"/>
                </a:solidFill>
                <a:latin typeface="Calibri"/>
              </a:rPr>
              <a:t>hierarchy + materials travel along</a:t>
            </a:r>
          </a:p>
          <a:p>
            <a:pPr>
              <a:spcBef>
                <a:spcPts val="0"/>
              </a:spcBef>
              <a:spcAft>
                <a:spcPts val="1100"/>
              </a:spcAft>
            </a:pPr>
            <a:r>
              <a:rPr sz="1500" b="1">
                <a:solidFill>
                  <a:srgbClr val="2DD4BF"/>
                </a:solidFill>
                <a:latin typeface="Calibri"/>
              </a:rPr>
              <a:t>—  </a:t>
            </a:r>
            <a:r>
              <a:rPr sz="1500" b="1">
                <a:solidFill>
                  <a:srgbClr val="E2E8F0"/>
                </a:solidFill>
                <a:latin typeface="Calibri"/>
              </a:rPr>
              <a:t>Industry standard </a:t>
            </a:r>
            <a:r>
              <a:rPr sz="1500">
                <a:solidFill>
                  <a:srgbClr val="E2E8F0"/>
                </a:solidFill>
                <a:latin typeface="Calibri"/>
              </a:rPr>
              <a:t>(Pixar, NVIDIA Omniverse)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 spc="200">
                <a:solidFill>
                  <a:srgbClr val="14B8A6"/>
                </a:solidFill>
                <a:latin typeface="Consolas"/>
              </a:rPr>
              <a:t>OBJECTIVES &amp; IMPLEMENTATION METHODS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6012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100" b="1" i="0">
                <a:solidFill>
                  <a:srgbClr val="0F172A"/>
                </a:solidFill>
                <a:latin typeface="Georgia"/>
              </a:rPr>
              <a:t>What I'll build, and how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920240"/>
            <a:ext cx="5120640" cy="420624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  <a:effectLst>
            <a:outerShdw blurRad="90000" dist="40000" dir="5400000" rotWithShape="0">
              <a:srgbClr val="0F172A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8720" y="2240280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 spc="200">
                <a:solidFill>
                  <a:srgbClr val="14B8A6"/>
                </a:solidFill>
                <a:latin typeface="Consolas"/>
              </a:rPr>
              <a:t>OBJECTIVES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2697480"/>
            <a:ext cx="448056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sz="1450" b="1">
                <a:solidFill>
                  <a:srgbClr val="14B8A6"/>
                </a:solidFill>
                <a:latin typeface="Calibri"/>
              </a:rPr>
              <a:t>—  </a:t>
            </a:r>
            <a:r>
              <a:rPr sz="1450">
                <a:solidFill>
                  <a:srgbClr val="0F172A"/>
                </a:solidFill>
                <a:latin typeface="Calibri"/>
              </a:rPr>
              <a:t>Review existing pipelines (Kitsu, Prism, USD)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sz="1450" b="1">
                <a:solidFill>
                  <a:srgbClr val="14B8A6"/>
                </a:solidFill>
                <a:latin typeface="Calibri"/>
              </a:rPr>
              <a:t>—  </a:t>
            </a:r>
            <a:r>
              <a:rPr sz="1450">
                <a:solidFill>
                  <a:srgbClr val="0F172A"/>
                </a:solidFill>
                <a:latin typeface="Calibri"/>
              </a:rPr>
              <a:t>Versioned server with an “approved” state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sz="1450" b="1">
                <a:solidFill>
                  <a:srgbClr val="14B8A6"/>
                </a:solidFill>
                <a:latin typeface="Calibri"/>
              </a:rPr>
              <a:t>—  </a:t>
            </a:r>
            <a:r>
              <a:rPr sz="1450">
                <a:solidFill>
                  <a:srgbClr val="0F172A"/>
                </a:solidFill>
                <a:latin typeface="Calibri"/>
              </a:rPr>
              <a:t>USD publish/consume in Maya + Houdini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sz="1450" b="1">
                <a:solidFill>
                  <a:srgbClr val="14B8A6"/>
                </a:solidFill>
                <a:latin typeface="Calibri"/>
              </a:rPr>
              <a:t>—  </a:t>
            </a:r>
            <a:r>
              <a:rPr sz="1450">
                <a:solidFill>
                  <a:srgbClr val="0F172A"/>
                </a:solidFill>
                <a:latin typeface="Calibri"/>
              </a:rPr>
              <a:t>Consume “latest approved” or a pinned version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sz="1450" b="1">
                <a:solidFill>
                  <a:srgbClr val="14B8A6"/>
                </a:solidFill>
                <a:latin typeface="Calibri"/>
              </a:rPr>
              <a:t>—  </a:t>
            </a:r>
            <a:r>
              <a:rPr sz="1450">
                <a:solidFill>
                  <a:srgbClr val="0F172A"/>
                </a:solidFill>
                <a:latin typeface="Calibri"/>
              </a:rPr>
              <a:t>Evaluate with artists (study + SUS survey)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920240"/>
            <a:ext cx="5120640" cy="4206240"/>
          </a:xfrm>
          <a:prstGeom prst="roundRect">
            <a:avLst/>
          </a:prstGeom>
          <a:solidFill>
            <a:srgbClr val="0E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29400" y="2240280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 spc="200">
                <a:solidFill>
                  <a:srgbClr val="2DD4BF"/>
                </a:solidFill>
                <a:latin typeface="Consolas"/>
              </a:rPr>
              <a:t>METHODS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29400" y="2697480"/>
            <a:ext cx="4572000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sz="1450" b="1">
                <a:solidFill>
                  <a:srgbClr val="2DD4BF"/>
                </a:solidFill>
                <a:latin typeface="Calibri"/>
              </a:rPr>
              <a:t>—  </a:t>
            </a:r>
            <a:r>
              <a:rPr sz="1450" b="1">
                <a:solidFill>
                  <a:srgbClr val="E2E8F0"/>
                </a:solidFill>
                <a:latin typeface="Calibri"/>
              </a:rPr>
              <a:t>Python + FastAPI </a:t>
            </a:r>
            <a:r>
              <a:rPr sz="1450">
                <a:solidFill>
                  <a:srgbClr val="E2E8F0"/>
                </a:solidFill>
                <a:latin typeface="Calibri"/>
              </a:rPr>
              <a:t>server, USD via pxr bindings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sz="1450" b="1">
                <a:solidFill>
                  <a:srgbClr val="2DD4BF"/>
                </a:solidFill>
                <a:latin typeface="Calibri"/>
              </a:rPr>
              <a:t>—  </a:t>
            </a:r>
            <a:r>
              <a:rPr sz="1450" b="1">
                <a:solidFill>
                  <a:srgbClr val="E2E8F0"/>
                </a:solidFill>
                <a:latin typeface="Calibri"/>
              </a:rPr>
              <a:t>PySide6 </a:t>
            </a:r>
            <a:r>
              <a:rPr sz="1450">
                <a:solidFill>
                  <a:srgbClr val="E2E8F0"/>
                </a:solidFill>
                <a:latin typeface="Calibri"/>
              </a:rPr>
              <a:t>clients inside Maya &amp; Houdini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sz="1450" b="1">
                <a:solidFill>
                  <a:srgbClr val="2DD4BF"/>
                </a:solidFill>
                <a:latin typeface="Calibri"/>
              </a:rPr>
              <a:t>—  </a:t>
            </a:r>
            <a:r>
              <a:rPr sz="1450" b="1">
                <a:solidFill>
                  <a:srgbClr val="E2E8F0"/>
                </a:solidFill>
                <a:latin typeface="Calibri"/>
              </a:rPr>
              <a:t>Docker + CI </a:t>
            </a:r>
            <a:r>
              <a:rPr sz="1450">
                <a:solidFill>
                  <a:srgbClr val="E2E8F0"/>
                </a:solidFill>
                <a:latin typeface="Calibri"/>
              </a:rPr>
              <a:t>reproducible deploy &amp; tests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sz="1450" b="1">
                <a:solidFill>
                  <a:srgbClr val="2DD4BF"/>
                </a:solidFill>
                <a:latin typeface="Calibri"/>
              </a:rPr>
              <a:t>—  </a:t>
            </a:r>
            <a:r>
              <a:rPr sz="1450" b="1">
                <a:solidFill>
                  <a:srgbClr val="E2E8F0"/>
                </a:solidFill>
                <a:latin typeface="Calibri"/>
              </a:rPr>
              <a:t>Design-and-build </a:t>
            </a:r>
            <a:r>
              <a:rPr sz="1450">
                <a:solidFill>
                  <a:srgbClr val="E2E8F0"/>
                </a:solidFill>
                <a:latin typeface="Calibri"/>
              </a:rPr>
              <a:t>+ empirical user evaluation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548640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DD4BF"/>
                </a:solidFill>
                <a:latin typeface="Consolas"/>
              </a:rPr>
              <a:t>DCC clients  →  FastAPI server  →  versioned USD storage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 spc="200">
                <a:solidFill>
                  <a:srgbClr val="F59E0B"/>
                </a:solidFill>
                <a:latin typeface="Consolas"/>
              </a:rPr>
              <a:t>KEY CHALLENGES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6012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100" b="1" i="0">
                <a:solidFill>
                  <a:srgbClr val="0F172A"/>
                </a:solidFill>
                <a:latin typeface="Georgia"/>
              </a:rPr>
              <a:t>What could be hard — and the plan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920240"/>
            <a:ext cx="5120640" cy="201168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  <a:effectLst>
            <a:outerShdw blurRad="90000" dist="40000" dir="5400000" rotWithShape="0">
              <a:srgbClr val="0F172A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1920240"/>
            <a:ext cx="109728" cy="201168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88720" y="2194560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0F172A"/>
                </a:solidFill>
                <a:latin typeface="Georgia"/>
              </a:rPr>
              <a:t>USD learning curve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2788920"/>
            <a:ext cx="45720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64748B"/>
                </a:solidFill>
                <a:latin typeface="Calibri"/>
              </a:rPr>
              <a:t>Powerful but complex. Mitigation: use prebuilt usd-core; a focused week-1 spike.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920240"/>
            <a:ext cx="5120640" cy="201168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  <a:effectLst>
            <a:outerShdw blurRad="90000" dist="40000" dir="5400000" rotWithShape="0">
              <a:srgbClr val="0F172A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63640" y="1920240"/>
            <a:ext cx="109728" cy="201168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29400" y="2194560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0F172A"/>
                </a:solidFill>
                <a:latin typeface="Georgia"/>
              </a:rPr>
              <a:t>Version resolution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2788920"/>
            <a:ext cx="45720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64748B"/>
                </a:solidFill>
                <a:latin typeface="Calibri"/>
              </a:rPr>
              <a:t>A full custom USD resolver is large. Fallback: resolve versions server-side.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4114800"/>
            <a:ext cx="5120640" cy="201168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  <a:effectLst>
            <a:outerShdw blurRad="90000" dist="40000" dir="5400000" rotWithShape="0">
              <a:srgbClr val="0F172A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22960" y="4114800"/>
            <a:ext cx="109728" cy="201168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88720" y="4389120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0F172A"/>
                </a:solidFill>
                <a:latin typeface="Georgia"/>
              </a:rPr>
              <a:t>Persistent file storage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4983480"/>
            <a:ext cx="45720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64748B"/>
                </a:solidFill>
                <a:latin typeface="Calibri"/>
              </a:rPr>
              <a:t>Cloud disks are ephemeral. Move assets to object storage (S3 / GridFS).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63640" y="4114800"/>
            <a:ext cx="5120640" cy="201168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  <a:effectLst>
            <a:outerShdw blurRad="90000" dist="40000" dir="5400000" rotWithShape="0">
              <a:srgbClr val="0F172A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63640" y="4114800"/>
            <a:ext cx="109728" cy="201168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29400" y="4389120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0F172A"/>
                </a:solidFill>
                <a:latin typeface="Georgia"/>
              </a:rPr>
              <a:t>Recruiting test artists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29400" y="4983480"/>
            <a:ext cx="45720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64748B"/>
                </a:solidFill>
                <a:latin typeface="Calibri"/>
              </a:rPr>
              <a:t>Studies need participants. Recruit from the NCCA cohort; keep tasks short.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 spc="200">
                <a:solidFill>
                  <a:srgbClr val="2DD4BF"/>
                </a:solidFill>
                <a:latin typeface="Consolas"/>
              </a:rPr>
              <a:t>REFERENCES &amp; SUPPORTING MATERIAL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6012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100" b="1" i="0">
                <a:solidFill>
                  <a:srgbClr val="FFFFFF"/>
                </a:solidFill>
                <a:latin typeface="Georgia"/>
              </a:rPr>
              <a:t>References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011680"/>
            <a:ext cx="10607040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1400"/>
              </a:spcAft>
            </a:pPr>
            <a:r>
              <a:rPr sz="1550" b="1">
                <a:solidFill>
                  <a:srgbClr val="2DD4BF"/>
                </a:solidFill>
                <a:latin typeface="Calibri"/>
              </a:rPr>
              <a:t>—  </a:t>
            </a:r>
            <a:r>
              <a:rPr sz="1550" b="1">
                <a:solidFill>
                  <a:srgbClr val="E2E8F0"/>
                </a:solidFill>
                <a:latin typeface="Calibri"/>
              </a:rPr>
              <a:t>OpenUSD </a:t>
            </a:r>
            <a:r>
              <a:rPr sz="1550">
                <a:solidFill>
                  <a:srgbClr val="E2E8F0"/>
                </a:solidFill>
                <a:latin typeface="Calibri"/>
              </a:rPr>
              <a:t>— Pixar / Alliance for OpenUSD (AOUSD) documentation &amp; specification</a:t>
            </a:r>
          </a:p>
          <a:p>
            <a:pPr>
              <a:spcBef>
                <a:spcPts val="0"/>
              </a:spcBef>
              <a:spcAft>
                <a:spcPts val="1400"/>
              </a:spcAft>
            </a:pPr>
            <a:r>
              <a:rPr sz="1550" b="1">
                <a:solidFill>
                  <a:srgbClr val="2DD4BF"/>
                </a:solidFill>
                <a:latin typeface="Calibri"/>
              </a:rPr>
              <a:t>—  </a:t>
            </a:r>
            <a:r>
              <a:rPr sz="1550" b="1">
                <a:solidFill>
                  <a:srgbClr val="E2E8F0"/>
                </a:solidFill>
                <a:latin typeface="Calibri"/>
              </a:rPr>
              <a:t>NVIDIA Omniverse </a:t>
            </a:r>
            <a:r>
              <a:rPr sz="1550">
                <a:solidFill>
                  <a:srgbClr val="E2E8F0"/>
                </a:solidFill>
                <a:latin typeface="Calibri"/>
              </a:rPr>
              <a:t>— OpenUSD pipeline resources and tooling</a:t>
            </a:r>
          </a:p>
          <a:p>
            <a:pPr>
              <a:spcBef>
                <a:spcPts val="0"/>
              </a:spcBef>
              <a:spcAft>
                <a:spcPts val="1400"/>
              </a:spcAft>
            </a:pPr>
            <a:r>
              <a:rPr sz="1550" b="1">
                <a:solidFill>
                  <a:srgbClr val="2DD4BF"/>
                </a:solidFill>
                <a:latin typeface="Calibri"/>
              </a:rPr>
              <a:t>—  </a:t>
            </a:r>
            <a:r>
              <a:rPr sz="1550" b="1">
                <a:solidFill>
                  <a:srgbClr val="E2E8F0"/>
                </a:solidFill>
                <a:latin typeface="Calibri"/>
              </a:rPr>
              <a:t>Autodesk Maya USD / SideFX Houdini Solaris </a:t>
            </a:r>
            <a:r>
              <a:rPr sz="1550">
                <a:solidFill>
                  <a:srgbClr val="E2E8F0"/>
                </a:solidFill>
                <a:latin typeface="Calibri"/>
              </a:rPr>
              <a:t>— native USD authoring docs</a:t>
            </a:r>
          </a:p>
          <a:p>
            <a:pPr>
              <a:spcBef>
                <a:spcPts val="0"/>
              </a:spcBef>
              <a:spcAft>
                <a:spcPts val="1400"/>
              </a:spcAft>
            </a:pPr>
            <a:r>
              <a:rPr sz="1550" b="1">
                <a:solidFill>
                  <a:srgbClr val="2DD4BF"/>
                </a:solidFill>
                <a:latin typeface="Calibri"/>
              </a:rPr>
              <a:t>—  </a:t>
            </a:r>
            <a:r>
              <a:rPr sz="1550" b="1">
                <a:solidFill>
                  <a:srgbClr val="E2E8F0"/>
                </a:solidFill>
                <a:latin typeface="Calibri"/>
              </a:rPr>
              <a:t>Kitsu (CGWire) &amp; Prism Pipeline </a:t>
            </a:r>
            <a:r>
              <a:rPr sz="1550">
                <a:solidFill>
                  <a:srgbClr val="E2E8F0"/>
                </a:solidFill>
                <a:latin typeface="Calibri"/>
              </a:rPr>
              <a:t>— open-source asset/production tools (comparison)</a:t>
            </a:r>
          </a:p>
          <a:p>
            <a:pPr>
              <a:spcBef>
                <a:spcPts val="0"/>
              </a:spcBef>
              <a:spcAft>
                <a:spcPts val="1400"/>
              </a:spcAft>
            </a:pPr>
            <a:r>
              <a:rPr sz="1550" b="1">
                <a:solidFill>
                  <a:srgbClr val="2DD4BF"/>
                </a:solidFill>
                <a:latin typeface="Calibri"/>
              </a:rPr>
              <a:t>—  </a:t>
            </a:r>
            <a:r>
              <a:rPr sz="1550" b="1">
                <a:solidFill>
                  <a:srgbClr val="E2E8F0"/>
                </a:solidFill>
                <a:latin typeface="Calibri"/>
              </a:rPr>
              <a:t>Brooke, J. (1996) </a:t>
            </a:r>
            <a:r>
              <a:rPr sz="1550">
                <a:solidFill>
                  <a:srgbClr val="E2E8F0"/>
                </a:solidFill>
                <a:latin typeface="Calibri"/>
              </a:rPr>
              <a:t>— SUS: A 'quick and dirty' usability scale (evaluation method)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94360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0" i="1">
                <a:solidFill>
                  <a:srgbClr val="94A3B8"/>
                </a:solidFill>
                <a:latin typeface="Calibri"/>
              </a:rPr>
              <a:t>Thank you — questions welcome.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