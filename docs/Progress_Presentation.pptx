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94560"/>
            <a:ext cx="128016" cy="21031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 spc="200">
                <a:solidFill>
                  <a:srgbClr val="22D3EE"/>
                </a:solidFill>
                <a:latin typeface="Consolas"/>
              </a:rPr>
              <a:t>MSc PROJECT — FINAL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0"/>
            <a:ext cx="10424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Planned vs Delivered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94A3B8"/>
                </a:solidFill>
                <a:latin typeface="Georgia"/>
              </a:rPr>
              <a:t>A USD Asset Pipeline for Cross-DCC Collaboration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663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Steve Mathew Varghese  ·  NCCA, Bournemouth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0E7490"/>
                </a:solidFill>
                <a:latin typeface="Consolas"/>
              </a:rPr>
              <a:t>WHAT WAS PROPOSED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E293B"/>
                </a:solidFill>
                <a:latin typeface="Georgia"/>
              </a:rPr>
              <a:t>The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7490"/>
                </a:solidFill>
                <a:latin typeface="Calibri"/>
              </a:rPr>
              <a:t>Research question: 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Can a lightweight, USD-based system give small teams reliable, versioned, cross-DCC asset exchange — and improve on manual file-sharing?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475569"/>
                </a:solidFill>
                <a:latin typeface="Calibri"/>
              </a:rPr>
              <a:t>Six objectives were set: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0E7490"/>
                </a:solidFill>
                <a:latin typeface="Calibri"/>
              </a:rPr>
              <a:t>•  </a:t>
            </a:r>
            <a:r>
              <a:rPr sz="1500">
                <a:solidFill>
                  <a:srgbClr val="1E293B"/>
                </a:solidFill>
                <a:latin typeface="Calibri"/>
              </a:rPr>
              <a:t>Review existing asset pipelines and identify the gap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0E7490"/>
                </a:solidFill>
                <a:latin typeface="Calibri"/>
              </a:rPr>
              <a:t>•  </a:t>
            </a:r>
            <a:r>
              <a:rPr sz="1500">
                <a:solidFill>
                  <a:srgbClr val="1E293B"/>
                </a:solidFill>
                <a:latin typeface="Calibri"/>
              </a:rPr>
              <a:t>Build a server with versioned storage and an approved state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0E7490"/>
                </a:solidFill>
                <a:latin typeface="Calibri"/>
              </a:rPr>
              <a:t>•  </a:t>
            </a:r>
            <a:r>
              <a:rPr sz="1500">
                <a:solidFill>
                  <a:srgbClr val="1E293B"/>
                </a:solidFill>
                <a:latin typeface="Calibri"/>
              </a:rPr>
              <a:t>USD publish / consume in two DCCs (Maya + Houdini)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0E7490"/>
                </a:solidFill>
                <a:latin typeface="Calibri"/>
              </a:rPr>
              <a:t>•  </a:t>
            </a:r>
            <a:r>
              <a:rPr sz="1500">
                <a:solidFill>
                  <a:srgbClr val="1E293B"/>
                </a:solidFill>
                <a:latin typeface="Calibri"/>
              </a:rPr>
              <a:t>Consume the latest approved version, or a pinned one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0E7490"/>
                </a:solidFill>
                <a:latin typeface="Calibri"/>
              </a:rPr>
              <a:t>•  </a:t>
            </a:r>
            <a:r>
              <a:rPr sz="1500">
                <a:solidFill>
                  <a:srgbClr val="1E293B"/>
                </a:solidFill>
                <a:latin typeface="Calibri"/>
              </a:rPr>
              <a:t>Evaluate with artists (task study + SUS + comparison)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0E7490"/>
                </a:solidFill>
                <a:latin typeface="Calibri"/>
              </a:rPr>
              <a:t>•  </a:t>
            </a:r>
            <a:r>
              <a:rPr sz="1500">
                <a:solidFill>
                  <a:srgbClr val="1E293B"/>
                </a:solidFill>
                <a:latin typeface="Calibri"/>
              </a:rPr>
              <a:t>Deploy properly (Docker, CI, reproducible environment)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USD Asset Pipeline — Progress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0E7490"/>
                </a:solidFill>
                <a:latin typeface="Consolas"/>
              </a:rPr>
              <a:t>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E293B"/>
                </a:solidFill>
                <a:latin typeface="Georgia"/>
              </a:rPr>
              <a:t>Planned vs 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475569"/>
                </a:solidFill>
                <a:latin typeface="Calibri"/>
              </a:rPr>
              <a:t>The tool is complete; four of six objectives are fully delivered and the evaluation is underway.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7863840" cy="56692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7315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E293B"/>
                </a:solidFill>
                <a:latin typeface="Calibri"/>
              </a:rPr>
              <a:t>Review existing pipelines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2377440"/>
            <a:ext cx="1554480" cy="384048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15400" y="2377440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962656"/>
            <a:ext cx="7863840" cy="56692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962656"/>
            <a:ext cx="7315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E293B"/>
                </a:solidFill>
                <a:latin typeface="Calibri"/>
              </a:rPr>
              <a:t>Versioned server + approved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3054096"/>
            <a:ext cx="1554480" cy="384048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400" y="3054096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DELIVERED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39312"/>
            <a:ext cx="7863840" cy="56692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639312"/>
            <a:ext cx="7315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E293B"/>
                </a:solidFill>
                <a:latin typeface="Calibri"/>
              </a:rPr>
              <a:t>USD publish / consume in Maya + Houdini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3730752"/>
            <a:ext cx="1554480" cy="384048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3730752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DELIVERED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315968"/>
            <a:ext cx="7863840" cy="56692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315968"/>
            <a:ext cx="7315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E293B"/>
                </a:solidFill>
                <a:latin typeface="Calibri"/>
              </a:rPr>
              <a:t>Latest-approved or pinned version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4407408"/>
            <a:ext cx="1554480" cy="384048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4407408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DELIVERED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92624"/>
            <a:ext cx="7863840" cy="56692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992624"/>
            <a:ext cx="7315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E293B"/>
                </a:solidFill>
                <a:latin typeface="Calibri"/>
              </a:rPr>
              <a:t>Evaluate with artists (SUS + tasks)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15400" y="5084064"/>
            <a:ext cx="1554480" cy="384048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15400" y="5084064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669280"/>
            <a:ext cx="7863840" cy="56692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669280"/>
            <a:ext cx="7315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E293B"/>
                </a:solidFill>
                <a:latin typeface="Calibri"/>
              </a:rPr>
              <a:t>Deploy (Docker, CI, cloud)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15400" y="5760720"/>
            <a:ext cx="1554480" cy="384048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15400" y="5760720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DELIVERED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USD Asset Pipeline — Progress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0E7490"/>
                </a:solidFill>
                <a:latin typeface="Consolas"/>
              </a:rPr>
              <a:t>DELIVERED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E293B"/>
                </a:solidFill>
                <a:latin typeface="Georgia"/>
              </a:rPr>
              <a:t>The working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5212080" cy="42976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659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0E7490"/>
                </a:solidFill>
                <a:latin typeface="Consolas"/>
              </a:rPr>
              <a:t>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377440"/>
            <a:ext cx="46634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0E7490"/>
                </a:solidFill>
                <a:latin typeface="Calibri"/>
              </a:rPr>
              <a:t>•  </a:t>
            </a:r>
            <a:r>
              <a:rPr sz="1450">
                <a:solidFill>
                  <a:srgbClr val="1E293B"/>
                </a:solidFill>
                <a:latin typeface="Calibri"/>
              </a:rPr>
              <a:t>USD assets (.usd / .usda / .usdc / .usdz)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0E7490"/>
                </a:solidFill>
                <a:latin typeface="Calibri"/>
              </a:rPr>
              <a:t>•  </a:t>
            </a:r>
            <a:r>
              <a:rPr sz="1450">
                <a:solidFill>
                  <a:srgbClr val="1E293B"/>
                </a:solidFill>
                <a:latin typeface="Calibri"/>
              </a:rPr>
              <a:t>Full version history — approve latest or pin a version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0E7490"/>
                </a:solidFill>
                <a:latin typeface="Calibri"/>
              </a:rPr>
              <a:t>•  </a:t>
            </a:r>
            <a:r>
              <a:rPr sz="1450">
                <a:solidFill>
                  <a:srgbClr val="1E293B"/>
                </a:solidFill>
                <a:latin typeface="Calibri"/>
              </a:rPr>
              <a:t>Maya client (tested end-to-end) + Houdini client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0E7490"/>
                </a:solidFill>
                <a:latin typeface="Calibri"/>
              </a:rPr>
              <a:t>•  </a:t>
            </a:r>
            <a:r>
              <a:rPr sz="1450">
                <a:solidFill>
                  <a:srgbClr val="1E293B"/>
                </a:solidFill>
                <a:latin typeface="Calibri"/>
              </a:rPr>
              <a:t>PySide6 management GUI (server, users, assets)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0E7490"/>
                </a:solidFill>
                <a:latin typeface="Calibri"/>
              </a:rPr>
              <a:t>•  </a:t>
            </a:r>
            <a:r>
              <a:rPr sz="1450">
                <a:solidFill>
                  <a:srgbClr val="1E293B"/>
                </a:solidFill>
                <a:latin typeface="Calibri"/>
              </a:rPr>
              <a:t>Automatic front/top thumbnails on publish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5029200" cy="4297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9659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22D3EE"/>
                </a:solidFill>
                <a:latin typeface="Consolas"/>
              </a:rPr>
              <a:t>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377440"/>
            <a:ext cx="44805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22D3EE"/>
                </a:solidFill>
                <a:latin typeface="Calibri"/>
              </a:rPr>
              <a:t>•  </a:t>
            </a:r>
            <a:r>
              <a:rPr sz="1450">
                <a:solidFill>
                  <a:srgbClr val="E2E8F0"/>
                </a:solidFill>
                <a:latin typeface="Calibri"/>
              </a:rPr>
              <a:t>FastAPI + MongoDB Atlas, files in GridFS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22D3EE"/>
                </a:solidFill>
                <a:latin typeface="Calibri"/>
              </a:rPr>
              <a:t>•  </a:t>
            </a:r>
            <a:r>
              <a:rPr sz="1450">
                <a:solidFill>
                  <a:srgbClr val="E2E8F0"/>
                </a:solidFill>
                <a:latin typeface="Calibri"/>
              </a:rPr>
              <a:t>Deployed on Render — always-on cloud URL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22D3EE"/>
                </a:solidFill>
                <a:latin typeface="Calibri"/>
              </a:rPr>
              <a:t>•  </a:t>
            </a:r>
            <a:r>
              <a:rPr sz="1450">
                <a:solidFill>
                  <a:srgbClr val="E2E8F0"/>
                </a:solidFill>
                <a:latin typeface="Calibri"/>
              </a:rPr>
              <a:t>Authentication + per-user accounts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22D3EE"/>
                </a:solidFill>
                <a:latin typeface="Calibri"/>
              </a:rPr>
              <a:t>•  </a:t>
            </a:r>
            <a:r>
              <a:rPr sz="1450">
                <a:solidFill>
                  <a:srgbClr val="E2E8F0"/>
                </a:solidFill>
                <a:latin typeface="Calibri"/>
              </a:rPr>
              <a:t>15 automated tests + GitHub Actions CI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22D3EE"/>
                </a:solidFill>
                <a:latin typeface="Calibri"/>
              </a:rPr>
              <a:t>•  </a:t>
            </a:r>
            <a:r>
              <a:rPr sz="1450">
                <a:solidFill>
                  <a:srgbClr val="E2E8F0"/>
                </a:solidFill>
                <a:latin typeface="Calibri"/>
              </a:rPr>
              <a:t>Docker, uv, PEP 8 enforced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USD Asset Pipeline — Progress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0E7490"/>
                </a:solidFill>
                <a:latin typeface="Consolas"/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E293B"/>
                </a:solidFill>
                <a:latin typeface="Georgia"/>
              </a:rPr>
              <a:t>Planned and current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212080" cy="39319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116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475569"/>
                </a:solidFill>
                <a:latin typeface="Consolas"/>
              </a:rPr>
              <a:t>PLANNED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423160"/>
            <a:ext cx="466344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475569"/>
                </a:solidFill>
                <a:latin typeface="Calibri"/>
              </a:rPr>
              <a:t>•  </a:t>
            </a:r>
            <a:r>
              <a:rPr sz="1450">
                <a:solidFill>
                  <a:srgbClr val="1E293B"/>
                </a:solidFill>
                <a:latin typeface="Calibri"/>
              </a:rPr>
              <a:t>Task-based usability study with artists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475569"/>
                </a:solidFill>
                <a:latin typeface="Calibri"/>
              </a:rPr>
              <a:t>•  </a:t>
            </a:r>
            <a:r>
              <a:rPr sz="1450">
                <a:solidFill>
                  <a:srgbClr val="1E293B"/>
                </a:solidFill>
                <a:latin typeface="Calibri"/>
              </a:rPr>
              <a:t>System Usability Scale (SUS) questionnaire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475569"/>
                </a:solidFill>
                <a:latin typeface="Calibri"/>
              </a:rPr>
              <a:t>•  </a:t>
            </a:r>
            <a:r>
              <a:rPr sz="1450">
                <a:solidFill>
                  <a:srgbClr val="1E293B"/>
                </a:solidFill>
                <a:latin typeface="Calibri"/>
              </a:rPr>
              <a:t>Comparison against manual file-sharing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475569"/>
                </a:solidFill>
                <a:latin typeface="Calibri"/>
              </a:rPr>
              <a:t>•  </a:t>
            </a:r>
            <a:r>
              <a:rPr sz="1450">
                <a:solidFill>
                  <a:srgbClr val="1E293B"/>
                </a:solidFill>
                <a:latin typeface="Calibri"/>
              </a:rPr>
              <a:t>Consent, background and post-study forms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029200" cy="39319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0116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15803D"/>
                </a:solidFill>
                <a:latin typeface="Consolas"/>
              </a:rPr>
              <a:t>DONE SO FAR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423160"/>
            <a:ext cx="44805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15803D"/>
                </a:solidFill>
                <a:latin typeface="Calibri"/>
              </a:rPr>
              <a:t>•  </a:t>
            </a:r>
            <a:r>
              <a:rPr sz="1450">
                <a:solidFill>
                  <a:srgbClr val="1E293B"/>
                </a:solidFill>
                <a:latin typeface="Calibri"/>
              </a:rPr>
              <a:t>Full evaluation pack built (forms + task sheet)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15803D"/>
                </a:solidFill>
                <a:latin typeface="Calibri"/>
              </a:rPr>
              <a:t>•  </a:t>
            </a:r>
            <a:r>
              <a:rPr sz="1450">
                <a:solidFill>
                  <a:srgbClr val="1E293B"/>
                </a:solidFill>
                <a:latin typeface="Calibri"/>
              </a:rPr>
              <a:t>Participant responses collected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15803D"/>
                </a:solidFill>
                <a:latin typeface="Calibri"/>
              </a:rPr>
              <a:t>•  </a:t>
            </a:r>
            <a:r>
              <a:rPr sz="1450">
                <a:solidFill>
                  <a:srgbClr val="1E293B"/>
                </a:solidFill>
                <a:latin typeface="Calibri"/>
              </a:rPr>
              <a:t>Analysis and write-up in progress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502920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475569"/>
                </a:solidFill>
                <a:latin typeface="Calibri"/>
              </a:rPr>
              <a:t>SUS results collected — analysis underway.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USD Asset Pipeline — 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0E7490"/>
                </a:solidFill>
                <a:latin typeface="Consolas"/>
              </a:rPr>
              <a:t>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E293B"/>
                </a:solidFill>
                <a:latin typeface="Georgia"/>
              </a:rPr>
              <a:t>Where things stand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7863840" cy="5486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7315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E293B"/>
                </a:solidFill>
                <a:latin typeface="Calibri"/>
              </a:rPr>
              <a:t>Review &amp; scope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911095"/>
            <a:ext cx="1554480" cy="384048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15400" y="1911095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DELIVERED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87168"/>
            <a:ext cx="7863840" cy="5486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87168"/>
            <a:ext cx="7315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E293B"/>
                </a:solidFill>
                <a:latin typeface="Calibri"/>
              </a:rPr>
              <a:t>Server + versioning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2569463"/>
            <a:ext cx="1554480" cy="384048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2569463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DELIVERED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145535"/>
            <a:ext cx="7863840" cy="5486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145535"/>
            <a:ext cx="7315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E293B"/>
                </a:solidFill>
                <a:latin typeface="Calibri"/>
              </a:rPr>
              <a:t>Maya + Houdini clients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3227831"/>
            <a:ext cx="1554480" cy="384048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3227831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DELIVERED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803903"/>
            <a:ext cx="7863840" cy="5486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803903"/>
            <a:ext cx="7315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E293B"/>
                </a:solidFill>
                <a:latin typeface="Calibri"/>
              </a:rPr>
              <a:t>Cloud deployment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3886199"/>
            <a:ext cx="1554480" cy="384048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3886199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DELIVERED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462271"/>
            <a:ext cx="7863840" cy="5486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462271"/>
            <a:ext cx="7315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E293B"/>
                </a:solidFill>
                <a:latin typeface="Calibri"/>
              </a:rPr>
              <a:t>User study — data collection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4544567"/>
            <a:ext cx="1554480" cy="384048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15400" y="4544567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DELIVERED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120639"/>
            <a:ext cx="7863840" cy="5486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120639"/>
            <a:ext cx="7315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E293B"/>
                </a:solidFill>
                <a:latin typeface="Calibri"/>
              </a:rPr>
              <a:t>Analysis &amp; dissertation write-up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15400" y="5202935"/>
            <a:ext cx="1554480" cy="384048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15400" y="5202935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475569"/>
                </a:solidFill>
                <a:latin typeface="Calibri"/>
              </a:rPr>
              <a:t>Development finished ahead of plan; the remaining work is analysis and writing.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USD Asset Pipeline — Progress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0E7490"/>
                </a:solidFill>
                <a:latin typeface="Consolas"/>
              </a:rPr>
              <a:t>WHAT'S LEFT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E293B"/>
                </a:solidFill>
                <a:latin typeface="Georgia"/>
              </a:rPr>
              <a:t>Remaining and future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212080" cy="39319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116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B45309"/>
                </a:solidFill>
                <a:latin typeface="Consolas"/>
              </a:rPr>
              <a:t>TO FINISH (THIS PROJECT)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423160"/>
            <a:ext cx="46634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B45309"/>
                </a:solidFill>
                <a:latin typeface="Calibri"/>
              </a:rPr>
              <a:t>•  </a:t>
            </a:r>
            <a:r>
              <a:rPr sz="1450">
                <a:solidFill>
                  <a:srgbClr val="1E293B"/>
                </a:solidFill>
                <a:latin typeface="Calibri"/>
              </a:rPr>
              <a:t>Analyse the SUS and task results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B45309"/>
                </a:solidFill>
                <a:latin typeface="Calibri"/>
              </a:rPr>
              <a:t>•  </a:t>
            </a:r>
            <a:r>
              <a:rPr sz="1450">
                <a:solidFill>
                  <a:srgbClr val="1E293B"/>
                </a:solidFill>
                <a:latin typeface="Calibri"/>
              </a:rPr>
              <a:t>Complete the literature review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B45309"/>
                </a:solidFill>
                <a:latin typeface="Calibri"/>
              </a:rPr>
              <a:t>•  </a:t>
            </a:r>
            <a:r>
              <a:rPr sz="1450">
                <a:solidFill>
                  <a:srgbClr val="1E293B"/>
                </a:solidFill>
                <a:latin typeface="Calibri"/>
              </a:rPr>
              <a:t>Write up findings and conclusions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029200" cy="39319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0116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64748B"/>
                </a:solidFill>
                <a:latin typeface="Consolas"/>
              </a:rPr>
              <a:t>FUTURE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423160"/>
            <a:ext cx="44805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64748B"/>
                </a:solidFill>
                <a:latin typeface="Calibri"/>
              </a:rPr>
              <a:t>•  </a:t>
            </a:r>
            <a:r>
              <a:rPr sz="1450">
                <a:solidFill>
                  <a:srgbClr val="1E293B"/>
                </a:solidFill>
                <a:latin typeface="Calibri"/>
              </a:rPr>
              <a:t>Full USD composition + custom Ar resolver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64748B"/>
                </a:solidFill>
                <a:latin typeface="Calibri"/>
              </a:rPr>
              <a:t>•  </a:t>
            </a:r>
            <a:r>
              <a:rPr sz="1450">
                <a:solidFill>
                  <a:srgbClr val="1E293B"/>
                </a:solidFill>
                <a:latin typeface="Calibri"/>
              </a:rPr>
              <a:t>Substance / texture round-trip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64748B"/>
                </a:solidFill>
                <a:latin typeface="Calibri"/>
              </a:rPr>
              <a:t>•  </a:t>
            </a:r>
            <a:r>
              <a:rPr sz="1450">
                <a:solidFill>
                  <a:srgbClr val="1E293B"/>
                </a:solidFill>
                <a:latin typeface="Calibri"/>
              </a:rPr>
              <a:t>Search, tags and batch operations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64748B"/>
                </a:solidFill>
                <a:latin typeface="Calibri"/>
              </a:rPr>
              <a:t>•  </a:t>
            </a:r>
            <a:r>
              <a:rPr sz="1450">
                <a:solidFill>
                  <a:srgbClr val="1E293B"/>
                </a:solidFill>
                <a:latin typeface="Calibri"/>
              </a:rPr>
              <a:t>Larger, controlled A/B user study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USD Asset Pipeline — Progress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22D3EE"/>
                </a:solidFill>
                <a:latin typeface="Consolas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A working, deployed pipeline — evaluation underway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700" b="1">
                <a:solidFill>
                  <a:srgbClr val="22D3EE"/>
                </a:solidFill>
                <a:latin typeface="Calibri"/>
              </a:rPr>
              <a:t>•  </a:t>
            </a:r>
            <a:r>
              <a:rPr sz="1700">
                <a:solidFill>
                  <a:srgbClr val="E2E8F0"/>
                </a:solidFill>
                <a:latin typeface="Calibri"/>
              </a:rPr>
              <a:t>Delivered a versioned, USD, cross-DCC asset pipeline (Maya + Houdini)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700" b="1">
                <a:solidFill>
                  <a:srgbClr val="22D3EE"/>
                </a:solidFill>
                <a:latin typeface="Calibri"/>
              </a:rPr>
              <a:t>•  </a:t>
            </a:r>
            <a:r>
              <a:rPr sz="1700">
                <a:solidFill>
                  <a:srgbClr val="E2E8F0"/>
                </a:solidFill>
                <a:latin typeface="Calibri"/>
              </a:rPr>
              <a:t>Cloud-hosted, tested, and usable by a small team today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700" b="1">
                <a:solidFill>
                  <a:srgbClr val="22D3EE"/>
                </a:solidFill>
                <a:latin typeface="Calibri"/>
              </a:rPr>
              <a:t>•  </a:t>
            </a:r>
            <a:r>
              <a:rPr sz="1700">
                <a:solidFill>
                  <a:srgbClr val="E2E8F0"/>
                </a:solidFill>
                <a:latin typeface="Calibri"/>
              </a:rPr>
              <a:t>Evaluation instruments built and responses collected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700" b="1">
                <a:solidFill>
                  <a:srgbClr val="22D3EE"/>
                </a:solidFill>
                <a:latin typeface="Calibri"/>
              </a:rPr>
              <a:t>•  </a:t>
            </a:r>
            <a:r>
              <a:rPr sz="1700">
                <a:solidFill>
                  <a:srgbClr val="E2E8F0"/>
                </a:solidFill>
                <a:latin typeface="Calibri"/>
              </a:rPr>
              <a:t>Remaining: analysis and the written dissertation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029200"/>
            <a:ext cx="10515600" cy="1828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2578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2D3EE"/>
                </a:solidFill>
                <a:latin typeface="Calibri"/>
              </a:rPr>
              <a:t>Contribution:  </a:t>
            </a:r>
            <a:r>
              <a:rPr sz="1400" b="0" i="0">
                <a:solidFill>
                  <a:srgbClr val="94A3B8"/>
                </a:solidFill>
                <a:latin typeface="Calibri"/>
              </a:rPr>
              <a:t>a lightweight, self-hostable USD pipeline with real version control for small studios.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